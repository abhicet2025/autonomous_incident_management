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185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2427" y="143057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incident diagnosis &amp; resolution agent   |   Track 1 - Agents - AGENTS_026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417320" y="1188720"/>
            <a:ext cx="9083040" cy="4398264"/>
          </a:xfrm>
          <a:prstGeom prst="roundRect">
            <a:avLst>
              <a:gd name="adj" fmla="val 2155"/>
            </a:avLst>
          </a:prstGeom>
          <a:solidFill>
            <a:srgbClr val="F1EFE8"/>
          </a:solidFill>
          <a:ln w="12700">
            <a:solidFill>
              <a:srgbClr val="D3D1C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691640" y="13533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pipeline  -  LangGraph orchestrated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691640" y="169164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D6E8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56232" y="1837944"/>
            <a:ext cx="1636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agent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56232" y="2185416"/>
            <a:ext cx="1636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anomaly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913632" y="169164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D6E8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078224" y="1837944"/>
            <a:ext cx="1636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scorer agent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078224" y="2185416"/>
            <a:ext cx="1636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scoring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35624" y="169164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D6E8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00216" y="1837944"/>
            <a:ext cx="1636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agent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00216" y="2185416"/>
            <a:ext cx="1636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RAG +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 LLM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357616" y="169164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DEDB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522208" y="1837944"/>
            <a:ext cx="1636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agent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22208" y="2185416"/>
            <a:ext cx="1636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by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703320" y="2089404"/>
            <a:ext cx="201168" cy="164592"/>
          </a:xfrm>
          <a:prstGeom prst="rightArrow">
            <a:avLst/>
          </a:prstGeom>
          <a:solidFill>
            <a:srgbClr val="5F5E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925312" y="2089404"/>
            <a:ext cx="201168" cy="164592"/>
          </a:xfrm>
          <a:prstGeom prst="rightArrow">
            <a:avLst/>
          </a:prstGeom>
          <a:solidFill>
            <a:srgbClr val="5F5E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147304" y="2089404"/>
            <a:ext cx="201168" cy="164592"/>
          </a:xfrm>
          <a:prstGeom prst="rightArrow">
            <a:avLst/>
          </a:prstGeom>
          <a:solidFill>
            <a:srgbClr val="5F5E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100072" y="294863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path  -  critical Severity or low confidence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300216" y="2983573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path  -  medium / low Severity, high confidence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105656" y="3211787"/>
            <a:ext cx="4736592" cy="0"/>
          </a:xfrm>
          <a:prstGeom prst="line">
            <a:avLst/>
          </a:prstGeom>
          <a:noFill/>
          <a:ln w="15875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053380" y="3217090"/>
            <a:ext cx="201168" cy="182880"/>
          </a:xfrm>
          <a:prstGeom prst="downArrow">
            <a:avLst/>
          </a:prstGeom>
          <a:solidFill>
            <a:srgbClr val="5F5E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718804" y="3211787"/>
            <a:ext cx="201168" cy="182880"/>
          </a:xfrm>
          <a:prstGeom prst="downArrow">
            <a:avLst/>
          </a:prstGeom>
          <a:solidFill>
            <a:srgbClr val="5F5E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057400" y="3401568"/>
            <a:ext cx="4096512" cy="740664"/>
          </a:xfrm>
          <a:prstGeom prst="roundRect">
            <a:avLst>
              <a:gd name="adj" fmla="val 7619"/>
            </a:avLst>
          </a:prstGeom>
          <a:solidFill>
            <a:srgbClr val="FBE2D6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231136" y="3332384"/>
            <a:ext cx="3730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portal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240280" y="3631979"/>
            <a:ext cx="3730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reviews AI confidence, root cause and metrics - approves, edits or rejects. HITL processor resumes the pipeline once approved.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793992" y="3401568"/>
            <a:ext cx="3584448" cy="740664"/>
          </a:xfrm>
          <a:prstGeom prst="roundRect">
            <a:avLst>
              <a:gd name="adj" fmla="val 7619"/>
            </a:avLst>
          </a:prstGeom>
          <a:solidFill>
            <a:srgbClr val="FBE2D6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952488" y="3442716"/>
            <a:ext cx="3730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agent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976872" y="3675888"/>
            <a:ext cx="3730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the incident-specific playbook automatically - sequential remediation steps with real timing.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81928" y="3579876"/>
            <a:ext cx="292608" cy="164592"/>
          </a:xfrm>
          <a:prstGeom prst="rightArrow">
            <a:avLst/>
          </a:prstGeom>
          <a:solidFill>
            <a:srgbClr val="5F5E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005072" y="4349895"/>
            <a:ext cx="201168" cy="241902"/>
          </a:xfrm>
          <a:prstGeom prst="downArrow">
            <a:avLst/>
          </a:prstGeom>
          <a:solidFill>
            <a:srgbClr val="5F5E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057400" y="4697768"/>
            <a:ext cx="4096512" cy="740664"/>
          </a:xfrm>
          <a:prstGeom prst="roundRect">
            <a:avLst>
              <a:gd name="adj" fmla="val 8421"/>
            </a:avLst>
          </a:prstGeom>
          <a:solidFill>
            <a:srgbClr val="E3F0CF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259546" y="4681038"/>
            <a:ext cx="3730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ITSM agent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2246318" y="5010912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Creates, tracks and closes the incident ticket; calculates MTTR end to end.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812280" y="4674912"/>
            <a:ext cx="3584448" cy="720047"/>
          </a:xfrm>
          <a:prstGeom prst="roundRect">
            <a:avLst>
              <a:gd name="adj" fmla="val 8421"/>
            </a:avLst>
          </a:prstGeom>
          <a:solidFill>
            <a:srgbClr val="E3F0CF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986390" y="4708470"/>
            <a:ext cx="3730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agent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984205" y="4965192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resolution back into the knowledge base, continuously improving future RCA.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308814" y="4965192"/>
            <a:ext cx="292608" cy="164592"/>
          </a:xfrm>
          <a:prstGeom prst="rightArrow">
            <a:avLst/>
          </a:prstGeom>
          <a:solidFill>
            <a:srgbClr val="5F5E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201168" y="1751076"/>
            <a:ext cx="1051560" cy="868680"/>
          </a:xfrm>
          <a:prstGeom prst="roundRect">
            <a:avLst>
              <a:gd name="adj" fmla="val 8421"/>
            </a:avLst>
          </a:prstGeom>
          <a:solidFill>
            <a:srgbClr val="F1EFE8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66878" y="1769364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logs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1280160" y="2121408"/>
            <a:ext cx="237744" cy="164592"/>
          </a:xfrm>
          <a:prstGeom prst="rightArrow">
            <a:avLst/>
          </a:prstGeom>
          <a:solidFill>
            <a:srgbClr val="5F5E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0724388" y="1632204"/>
            <a:ext cx="1188720" cy="1005840"/>
          </a:xfrm>
          <a:prstGeom prst="roundRect">
            <a:avLst>
              <a:gd name="adj" fmla="val 7273"/>
            </a:avLst>
          </a:prstGeom>
          <a:solidFill>
            <a:srgbClr val="D7F0E6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0724388" y="1682496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7118604" y="1024128"/>
            <a:ext cx="0" cy="667512"/>
          </a:xfrm>
          <a:prstGeom prst="line">
            <a:avLst/>
          </a:prstGeom>
          <a:noFill/>
          <a:ln w="15875">
            <a:solidFill>
              <a:srgbClr val="0F6E5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118604" y="1024128"/>
            <a:ext cx="3854196" cy="0"/>
          </a:xfrm>
          <a:prstGeom prst="line">
            <a:avLst/>
          </a:prstGeom>
          <a:noFill/>
          <a:ln w="15875">
            <a:solidFill>
              <a:srgbClr val="0F6E5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0972800" y="1024128"/>
            <a:ext cx="0" cy="644652"/>
          </a:xfrm>
          <a:prstGeom prst="line">
            <a:avLst/>
          </a:prstGeom>
          <a:noFill/>
          <a:ln w="15875">
            <a:solidFill>
              <a:srgbClr val="0F6E5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255764" y="73152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0104120" y="27203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future RCA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57200" y="5660136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731520" y="5660136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Instinct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MI300X  (ROCm 7.0)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3383280" y="5815584"/>
            <a:ext cx="3566160" cy="603504"/>
          </a:xfrm>
          <a:prstGeom prst="roundRect">
            <a:avLst>
              <a:gd name="adj" fmla="val 50000"/>
            </a:avLst>
          </a:prstGeom>
          <a:solidFill>
            <a:srgbClr val="378A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3383280" y="5815584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 -  Qwen2.5-32B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RCA backend (active)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7178040" y="5815584"/>
            <a:ext cx="4297680" cy="603504"/>
          </a:xfrm>
          <a:prstGeom prst="roundRect">
            <a:avLst>
              <a:gd name="adj" fmla="val 50000"/>
            </a:avLst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7178040" y="5815584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 -  Qwen2.5-32B / 7B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secondary - production rollout path</a:t>
            </a:r>
            <a:endParaRPr lang="en-US" sz="1300" dirty="0"/>
          </a:p>
        </p:txBody>
      </p: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751CD527-5979-E074-84E0-6CE7B773AA57}"/>
              </a:ext>
            </a:extLst>
          </p:cNvPr>
          <p:cNvCxnSpPr>
            <a:stCxn id="15" idx="2"/>
          </p:cNvCxnSpPr>
          <p:nvPr/>
        </p:nvCxnSpPr>
        <p:spPr>
          <a:xfrm rot="5400000">
            <a:off x="7690104" y="1243584"/>
            <a:ext cx="242316" cy="3058668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497FB0C5-D40B-1BF9-BF3E-0A370C1AAB3E}"/>
              </a:ext>
            </a:extLst>
          </p:cNvPr>
          <p:cNvCxnSpPr>
            <a:cxnSpLocks/>
          </p:cNvCxnSpPr>
          <p:nvPr/>
        </p:nvCxnSpPr>
        <p:spPr>
          <a:xfrm>
            <a:off x="6281928" y="2894076"/>
            <a:ext cx="0" cy="2885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6D5A9A54-242B-B6EF-73D2-89BD46E8E38F}"/>
              </a:ext>
            </a:extLst>
          </p:cNvPr>
          <p:cNvCxnSpPr>
            <a:cxnSpLocks/>
          </p:cNvCxnSpPr>
          <p:nvPr/>
        </p:nvCxnSpPr>
        <p:spPr>
          <a:xfrm rot="10800000" flipV="1">
            <a:off x="4114038" y="4160690"/>
            <a:ext cx="4613148" cy="194139"/>
          </a:xfrm>
          <a:prstGeom prst="bentConnector3">
            <a:avLst>
              <a:gd name="adj1" fmla="val -489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BDB38019-9A0F-4678-C1E0-4EEE1967215E}"/>
              </a:ext>
            </a:extLst>
          </p:cNvPr>
          <p:cNvCxnSpPr>
            <a:cxnSpLocks/>
          </p:cNvCxnSpPr>
          <p:nvPr/>
        </p:nvCxnSpPr>
        <p:spPr>
          <a:xfrm flipV="1">
            <a:off x="11548872" y="2619755"/>
            <a:ext cx="15528" cy="2381323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312B826F-DE70-34F0-681C-15B329E23F59}"/>
              </a:ext>
            </a:extLst>
          </p:cNvPr>
          <p:cNvCxnSpPr>
            <a:cxnSpLocks/>
            <a:stCxn id="39" idx="3"/>
          </p:cNvCxnSpPr>
          <p:nvPr/>
        </p:nvCxnSpPr>
        <p:spPr>
          <a:xfrm flipV="1">
            <a:off x="10396728" y="5028510"/>
            <a:ext cx="1152144" cy="642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5" name="Image 0" descr="preencoded.png">
            <a:extLst>
              <a:ext uri="{FF2B5EF4-FFF2-40B4-BE49-F238E27FC236}">
                <a16:creationId xmlns:a16="http://schemas.microsoft.com/office/drawing/2014/main" id="{C681DE59-7AD1-13B6-4AD9-A978D5597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6419088"/>
            <a:ext cx="1341120" cy="5074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181</Words>
  <Application>Microsoft Office PowerPoint</Application>
  <PresentationFormat>Widescreen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TCS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Solution Architecture</dc:title>
  <dc:subject>Solution Architecture</dc:subject>
  <dc:creator>Abhilash A S</dc:creator>
  <cp:lastModifiedBy>Abhilash A S</cp:lastModifiedBy>
  <cp:revision>7</cp:revision>
  <dcterms:created xsi:type="dcterms:W3CDTF">2026-06-15T10:43:56Z</dcterms:created>
  <dcterms:modified xsi:type="dcterms:W3CDTF">2026-06-15T11:06:54Z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32e73b5-7a0e-4eff-9b97-b1be62bf21f0_Enabled">
    <vt:lpwstr>true</vt:lpwstr>
  </property>
  <property fmtid="{D5CDD505-2E9C-101B-9397-08002B2CF9AE}" pid="3" name="MSIP_Label_332e73b5-7a0e-4eff-9b97-b1be62bf21f0_SetDate">
    <vt:lpwstr>2026-06-15T10:52:56Z</vt:lpwstr>
  </property>
  <property fmtid="{D5CDD505-2E9C-101B-9397-08002B2CF9AE}" pid="4" name="MSIP_Label_332e73b5-7a0e-4eff-9b97-b1be62bf21f0_Method">
    <vt:lpwstr>Standard</vt:lpwstr>
  </property>
  <property fmtid="{D5CDD505-2E9C-101B-9397-08002B2CF9AE}" pid="5" name="MSIP_Label_332e73b5-7a0e-4eff-9b97-b1be62bf21f0_Name">
    <vt:lpwstr>332e73b5-7a0e-4eff-9b97-b1be62bf21f0</vt:lpwstr>
  </property>
  <property fmtid="{D5CDD505-2E9C-101B-9397-08002B2CF9AE}" pid="6" name="MSIP_Label_332e73b5-7a0e-4eff-9b97-b1be62bf21f0_SiteId">
    <vt:lpwstr>805bc25d-8e64-4ed6-8d24-3883c9068c5a</vt:lpwstr>
  </property>
  <property fmtid="{D5CDD505-2E9C-101B-9397-08002B2CF9AE}" pid="7" name="MSIP_Label_332e73b5-7a0e-4eff-9b97-b1be62bf21f0_ActionId">
    <vt:lpwstr>580b69eb-46ab-4bf6-b2ce-7ea378ccddd2</vt:lpwstr>
  </property>
  <property fmtid="{D5CDD505-2E9C-101B-9397-08002B2CF9AE}" pid="8" name="MSIP_Label_332e73b5-7a0e-4eff-9b97-b1be62bf21f0_ContentBits">
    <vt:lpwstr>0</vt:lpwstr>
  </property>
  <property fmtid="{D5CDD505-2E9C-101B-9397-08002B2CF9AE}" pid="9" name="MSIP_Label_332e73b5-7a0e-4eff-9b97-b1be62bf21f0_Tag">
    <vt:lpwstr>10, 3, 0, 1</vt:lpwstr>
  </property>
</Properties>
</file>